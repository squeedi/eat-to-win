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5C099C-A9D5-4594-B2ED-FE23CB3E96B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4E8B4F-E3D7-44D4-B614-B01CBB191DFF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Проект разрабатывался на языке </a:t>
          </a:r>
          <a:r>
            <a:rPr lang="en-US" b="1" dirty="0">
              <a:solidFill>
                <a:schemeClr val="accent1">
                  <a:lumMod val="75000"/>
                </a:schemeClr>
              </a:solidFill>
            </a:rPr>
            <a:t>Python</a:t>
          </a:r>
          <a:r>
            <a:rPr lang="ru-RU" b="0" i="0" dirty="0">
              <a:solidFill>
                <a:schemeClr val="accent1">
                  <a:lumMod val="75000"/>
                </a:schemeClr>
              </a:solidFill>
            </a:rPr>
            <a:t>— это язык программирования, который широко используется в интернет-приложениях, разработке программного обеспечения, науке о данных и машинном обучении (ML). Разработчики используют Python, потому что он эффективен, прост в изучении и работает на разных платформах.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B0B59A36-9887-4769-9D93-7012A1D166F8}" type="parTrans" cxnId="{CB21AE33-57A3-4A29-B98D-69520E518AB7}">
      <dgm:prSet/>
      <dgm:spPr/>
      <dgm:t>
        <a:bodyPr/>
        <a:lstStyle/>
        <a:p>
          <a:endParaRPr lang="en-US"/>
        </a:p>
      </dgm:t>
    </dgm:pt>
    <dgm:pt modelId="{7DD3945E-44EA-451A-B49C-4551EF0A4990}" type="sibTrans" cxnId="{CB21AE33-57A3-4A29-B98D-69520E518AB7}">
      <dgm:prSet/>
      <dgm:spPr/>
      <dgm:t>
        <a:bodyPr/>
        <a:lstStyle/>
        <a:p>
          <a:endParaRPr lang="en-US"/>
        </a:p>
      </dgm:t>
    </dgm:pt>
    <dgm:pt modelId="{81A35273-7838-4B2F-80A6-CC2EFEB39D71}">
      <dgm:prSet/>
      <dgm:spPr/>
      <dgm:t>
        <a:bodyPr/>
        <a:lstStyle/>
        <a:p>
          <a:r>
            <a:rPr lang="ru-RU" b="1" i="0" dirty="0" err="1">
              <a:solidFill>
                <a:schemeClr val="accent1">
                  <a:lumMod val="75000"/>
                </a:schemeClr>
              </a:solidFill>
            </a:rPr>
            <a:t>Pygame</a:t>
          </a:r>
          <a:r>
            <a:rPr lang="ru-RU" b="0" i="0" dirty="0">
              <a:solidFill>
                <a:schemeClr val="accent1">
                  <a:lumMod val="75000"/>
                </a:schemeClr>
              </a:solidFill>
            </a:rPr>
            <a:t> — это библиотека для создания игр на языке программирования Python. В библиотеке собран набор программных средств, помогающих разрабатывать двумерные игры.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E1032C9C-A0C7-462F-967C-A982DD08DD08}" type="parTrans" cxnId="{A8AB5F16-9934-41E7-B490-E7FCCBBC23CD}">
      <dgm:prSet/>
      <dgm:spPr/>
      <dgm:t>
        <a:bodyPr/>
        <a:lstStyle/>
        <a:p>
          <a:endParaRPr lang="en-US"/>
        </a:p>
      </dgm:t>
    </dgm:pt>
    <dgm:pt modelId="{21D8B386-C37C-4F9A-9AE5-644A306134FD}" type="sibTrans" cxnId="{A8AB5F16-9934-41E7-B490-E7FCCBBC23CD}">
      <dgm:prSet/>
      <dgm:spPr/>
      <dgm:t>
        <a:bodyPr/>
        <a:lstStyle/>
        <a:p>
          <a:endParaRPr lang="en-US"/>
        </a:p>
      </dgm:t>
    </dgm:pt>
    <dgm:pt modelId="{89970DE5-967C-4F3B-BF8D-1A4B06721D05}" type="pres">
      <dgm:prSet presAssocID="{0F5C099C-A9D5-4594-B2ED-FE23CB3E96B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F64B38-9948-43AF-9ECA-D82F21DFB190}" type="pres">
      <dgm:prSet presAssocID="{174E8B4F-E3D7-44D4-B614-B01CBB191DFF}" presName="hierRoot1" presStyleCnt="0"/>
      <dgm:spPr/>
    </dgm:pt>
    <dgm:pt modelId="{17427C93-4011-4D22-942E-D9B846DA060C}" type="pres">
      <dgm:prSet presAssocID="{174E8B4F-E3D7-44D4-B614-B01CBB191DFF}" presName="composite" presStyleCnt="0"/>
      <dgm:spPr/>
    </dgm:pt>
    <dgm:pt modelId="{DDC87A43-8732-4764-B5C2-29F914D0C00F}" type="pres">
      <dgm:prSet presAssocID="{174E8B4F-E3D7-44D4-B614-B01CBB191DFF}" presName="background" presStyleLbl="node0" presStyleIdx="0" presStyleCnt="2"/>
      <dgm:spPr/>
    </dgm:pt>
    <dgm:pt modelId="{A05E6978-C9C3-47DF-9796-083CAD2DAE51}" type="pres">
      <dgm:prSet presAssocID="{174E8B4F-E3D7-44D4-B614-B01CBB191DFF}" presName="text" presStyleLbl="fgAcc0" presStyleIdx="0" presStyleCnt="2">
        <dgm:presLayoutVars>
          <dgm:chPref val="3"/>
        </dgm:presLayoutVars>
      </dgm:prSet>
      <dgm:spPr/>
    </dgm:pt>
    <dgm:pt modelId="{25CF8DCB-7CDC-4005-AB96-68E3DBFAEF80}" type="pres">
      <dgm:prSet presAssocID="{174E8B4F-E3D7-44D4-B614-B01CBB191DFF}" presName="hierChild2" presStyleCnt="0"/>
      <dgm:spPr/>
    </dgm:pt>
    <dgm:pt modelId="{3218A835-9D65-41BE-9083-B721B3604BD6}" type="pres">
      <dgm:prSet presAssocID="{81A35273-7838-4B2F-80A6-CC2EFEB39D71}" presName="hierRoot1" presStyleCnt="0"/>
      <dgm:spPr/>
    </dgm:pt>
    <dgm:pt modelId="{75B03A14-FD8C-4E71-83B3-C4969B20817B}" type="pres">
      <dgm:prSet presAssocID="{81A35273-7838-4B2F-80A6-CC2EFEB39D71}" presName="composite" presStyleCnt="0"/>
      <dgm:spPr/>
    </dgm:pt>
    <dgm:pt modelId="{147E5368-1D07-42DF-B89A-E592D982472D}" type="pres">
      <dgm:prSet presAssocID="{81A35273-7838-4B2F-80A6-CC2EFEB39D71}" presName="background" presStyleLbl="node0" presStyleIdx="1" presStyleCnt="2"/>
      <dgm:spPr/>
    </dgm:pt>
    <dgm:pt modelId="{BE1DD3C3-7018-40EF-8AC5-919BBDD006D5}" type="pres">
      <dgm:prSet presAssocID="{81A35273-7838-4B2F-80A6-CC2EFEB39D71}" presName="text" presStyleLbl="fgAcc0" presStyleIdx="1" presStyleCnt="2">
        <dgm:presLayoutVars>
          <dgm:chPref val="3"/>
        </dgm:presLayoutVars>
      </dgm:prSet>
      <dgm:spPr/>
    </dgm:pt>
    <dgm:pt modelId="{B46366B2-A463-4C20-BB2A-CEF134790B55}" type="pres">
      <dgm:prSet presAssocID="{81A35273-7838-4B2F-80A6-CC2EFEB39D71}" presName="hierChild2" presStyleCnt="0"/>
      <dgm:spPr/>
    </dgm:pt>
  </dgm:ptLst>
  <dgm:cxnLst>
    <dgm:cxn modelId="{A7B3820E-EDF0-4A61-AB47-DA65575FA6BC}" type="presOf" srcId="{81A35273-7838-4B2F-80A6-CC2EFEB39D71}" destId="{BE1DD3C3-7018-40EF-8AC5-919BBDD006D5}" srcOrd="0" destOrd="0" presId="urn:microsoft.com/office/officeart/2005/8/layout/hierarchy1"/>
    <dgm:cxn modelId="{A8AB5F16-9934-41E7-B490-E7FCCBBC23CD}" srcId="{0F5C099C-A9D5-4594-B2ED-FE23CB3E96BE}" destId="{81A35273-7838-4B2F-80A6-CC2EFEB39D71}" srcOrd="1" destOrd="0" parTransId="{E1032C9C-A0C7-462F-967C-A982DD08DD08}" sibTransId="{21D8B386-C37C-4F9A-9AE5-644A306134FD}"/>
    <dgm:cxn modelId="{6FD7F52E-C5E0-42AF-85D5-9C1D12ECF4C8}" type="presOf" srcId="{174E8B4F-E3D7-44D4-B614-B01CBB191DFF}" destId="{A05E6978-C9C3-47DF-9796-083CAD2DAE51}" srcOrd="0" destOrd="0" presId="urn:microsoft.com/office/officeart/2005/8/layout/hierarchy1"/>
    <dgm:cxn modelId="{CB21AE33-57A3-4A29-B98D-69520E518AB7}" srcId="{0F5C099C-A9D5-4594-B2ED-FE23CB3E96BE}" destId="{174E8B4F-E3D7-44D4-B614-B01CBB191DFF}" srcOrd="0" destOrd="0" parTransId="{B0B59A36-9887-4769-9D93-7012A1D166F8}" sibTransId="{7DD3945E-44EA-451A-B49C-4551EF0A4990}"/>
    <dgm:cxn modelId="{8C3F2A86-BE5B-4F03-B2F6-F328B75E48C1}" type="presOf" srcId="{0F5C099C-A9D5-4594-B2ED-FE23CB3E96BE}" destId="{89970DE5-967C-4F3B-BF8D-1A4B06721D05}" srcOrd="0" destOrd="0" presId="urn:microsoft.com/office/officeart/2005/8/layout/hierarchy1"/>
    <dgm:cxn modelId="{18588D7D-37F4-4BAD-8E13-6C20A4E01EEA}" type="presParOf" srcId="{89970DE5-967C-4F3B-BF8D-1A4B06721D05}" destId="{D7F64B38-9948-43AF-9ECA-D82F21DFB190}" srcOrd="0" destOrd="0" presId="urn:microsoft.com/office/officeart/2005/8/layout/hierarchy1"/>
    <dgm:cxn modelId="{A0CA3EA5-9E14-463C-9D1D-7C5B03E23571}" type="presParOf" srcId="{D7F64B38-9948-43AF-9ECA-D82F21DFB190}" destId="{17427C93-4011-4D22-942E-D9B846DA060C}" srcOrd="0" destOrd="0" presId="urn:microsoft.com/office/officeart/2005/8/layout/hierarchy1"/>
    <dgm:cxn modelId="{A56F6599-45BB-4C9D-9AA1-175D628F1DCC}" type="presParOf" srcId="{17427C93-4011-4D22-942E-D9B846DA060C}" destId="{DDC87A43-8732-4764-B5C2-29F914D0C00F}" srcOrd="0" destOrd="0" presId="urn:microsoft.com/office/officeart/2005/8/layout/hierarchy1"/>
    <dgm:cxn modelId="{A04926A3-916F-4A11-BD69-080830CFB384}" type="presParOf" srcId="{17427C93-4011-4D22-942E-D9B846DA060C}" destId="{A05E6978-C9C3-47DF-9796-083CAD2DAE51}" srcOrd="1" destOrd="0" presId="urn:microsoft.com/office/officeart/2005/8/layout/hierarchy1"/>
    <dgm:cxn modelId="{7FDE4ABF-2AB4-4A00-9469-86A30F0C1410}" type="presParOf" srcId="{D7F64B38-9948-43AF-9ECA-D82F21DFB190}" destId="{25CF8DCB-7CDC-4005-AB96-68E3DBFAEF80}" srcOrd="1" destOrd="0" presId="urn:microsoft.com/office/officeart/2005/8/layout/hierarchy1"/>
    <dgm:cxn modelId="{A859F601-5013-4783-8698-00C39B68AD7F}" type="presParOf" srcId="{89970DE5-967C-4F3B-BF8D-1A4B06721D05}" destId="{3218A835-9D65-41BE-9083-B721B3604BD6}" srcOrd="1" destOrd="0" presId="urn:microsoft.com/office/officeart/2005/8/layout/hierarchy1"/>
    <dgm:cxn modelId="{FA2B3C72-C034-4302-BB4D-477BCB3CBD0B}" type="presParOf" srcId="{3218A835-9D65-41BE-9083-B721B3604BD6}" destId="{75B03A14-FD8C-4E71-83B3-C4969B20817B}" srcOrd="0" destOrd="0" presId="urn:microsoft.com/office/officeart/2005/8/layout/hierarchy1"/>
    <dgm:cxn modelId="{895EA3BF-3D01-4E30-8980-0EC4665D1604}" type="presParOf" srcId="{75B03A14-FD8C-4E71-83B3-C4969B20817B}" destId="{147E5368-1D07-42DF-B89A-E592D982472D}" srcOrd="0" destOrd="0" presId="urn:microsoft.com/office/officeart/2005/8/layout/hierarchy1"/>
    <dgm:cxn modelId="{374AE670-AABB-4D83-99D1-33F0979F2321}" type="presParOf" srcId="{75B03A14-FD8C-4E71-83B3-C4969B20817B}" destId="{BE1DD3C3-7018-40EF-8AC5-919BBDD006D5}" srcOrd="1" destOrd="0" presId="urn:microsoft.com/office/officeart/2005/8/layout/hierarchy1"/>
    <dgm:cxn modelId="{179E1F5E-D411-458F-8DB5-E5160970EE76}" type="presParOf" srcId="{3218A835-9D65-41BE-9083-B721B3604BD6}" destId="{B46366B2-A463-4C20-BB2A-CEF134790B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3A498F-A129-465D-8168-27F5136543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C027B2-5347-4EAF-9218-E8E2288765CF}">
      <dgm:prSet/>
      <dgm:spPr/>
      <dgm:t>
        <a:bodyPr/>
        <a:lstStyle/>
        <a:p>
          <a:r>
            <a:rPr lang="ru-RU"/>
            <a:t>Пользователь нажимает </a:t>
          </a:r>
          <a:r>
            <a:rPr lang="en-US"/>
            <a:t>«Start»</a:t>
          </a:r>
          <a:r>
            <a:rPr lang="ru-RU"/>
            <a:t>, после чего происходит следующее:</a:t>
          </a:r>
          <a:endParaRPr lang="en-US"/>
        </a:p>
      </dgm:t>
    </dgm:pt>
    <dgm:pt modelId="{B228F7B4-A33E-445E-92CC-539829E828A4}" type="parTrans" cxnId="{16C5FC81-CC67-46B1-B2E2-02DFE968A4F0}">
      <dgm:prSet/>
      <dgm:spPr/>
      <dgm:t>
        <a:bodyPr/>
        <a:lstStyle/>
        <a:p>
          <a:endParaRPr lang="en-US"/>
        </a:p>
      </dgm:t>
    </dgm:pt>
    <dgm:pt modelId="{931372A0-E6B4-444D-8894-F0CF348460B5}" type="sibTrans" cxnId="{16C5FC81-CC67-46B1-B2E2-02DFE968A4F0}">
      <dgm:prSet/>
      <dgm:spPr/>
      <dgm:t>
        <a:bodyPr/>
        <a:lstStyle/>
        <a:p>
          <a:endParaRPr lang="en-US"/>
        </a:p>
      </dgm:t>
    </dgm:pt>
    <dgm:pt modelId="{8BE0D635-6D65-4454-98BB-21ABA57E16E8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На экране показывается таймер в секундах, который отсчитывает до конца игры.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24045D1C-4D56-463D-8EBB-331FC3036804}" type="parTrans" cxnId="{836C25B5-A237-4FC0-9A5F-0CC1CB47EE83}">
      <dgm:prSet/>
      <dgm:spPr/>
      <dgm:t>
        <a:bodyPr/>
        <a:lstStyle/>
        <a:p>
          <a:endParaRPr lang="en-US"/>
        </a:p>
      </dgm:t>
    </dgm:pt>
    <dgm:pt modelId="{8D40EA34-2C59-468C-8E81-E0FFC5A850FC}" type="sibTrans" cxnId="{836C25B5-A237-4FC0-9A5F-0CC1CB47EE83}">
      <dgm:prSet/>
      <dgm:spPr/>
      <dgm:t>
        <a:bodyPr/>
        <a:lstStyle/>
        <a:p>
          <a:endParaRPr lang="en-US"/>
        </a:p>
      </dgm:t>
    </dgm:pt>
    <dgm:pt modelId="{1516F5DB-3903-4D11-8996-33081CA1CDE9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Кнопка </a:t>
          </a:r>
          <a:r>
            <a:rPr lang="en-US" dirty="0">
              <a:solidFill>
                <a:schemeClr val="accent1">
                  <a:lumMod val="75000"/>
                </a:schemeClr>
              </a:solidFill>
            </a:rPr>
            <a:t>«Back» </a:t>
          </a:r>
          <a:r>
            <a:rPr lang="ru-RU" dirty="0">
              <a:solidFill>
                <a:schemeClr val="accent1">
                  <a:lumMod val="75000"/>
                </a:schemeClr>
              </a:solidFill>
            </a:rPr>
            <a:t>для возвращения в главное меню.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D15B5E41-41F6-40A2-A131-2C8297395646}" type="parTrans" cxnId="{A32FBB24-1708-404A-A4E5-BC9AB8AE0A3B}">
      <dgm:prSet/>
      <dgm:spPr/>
      <dgm:t>
        <a:bodyPr/>
        <a:lstStyle/>
        <a:p>
          <a:endParaRPr lang="en-US"/>
        </a:p>
      </dgm:t>
    </dgm:pt>
    <dgm:pt modelId="{D571D177-0412-403D-B486-C521849AB876}" type="sibTrans" cxnId="{A32FBB24-1708-404A-A4E5-BC9AB8AE0A3B}">
      <dgm:prSet/>
      <dgm:spPr/>
      <dgm:t>
        <a:bodyPr/>
        <a:lstStyle/>
        <a:p>
          <a:endParaRPr lang="en-US"/>
        </a:p>
      </dgm:t>
    </dgm:pt>
    <dgm:pt modelId="{B88157DB-5DE1-45F1-AA99-58FFF6344816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На экране появляются в разных местах маленькие квадратики.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82AED451-55C5-4143-A346-BAF8ED57A4F0}" type="parTrans" cxnId="{F2251847-3029-4981-8A5E-EE0C0DC0A453}">
      <dgm:prSet/>
      <dgm:spPr/>
      <dgm:t>
        <a:bodyPr/>
        <a:lstStyle/>
        <a:p>
          <a:endParaRPr lang="en-US"/>
        </a:p>
      </dgm:t>
    </dgm:pt>
    <dgm:pt modelId="{8929CF02-9461-43CE-837A-9F0F9D72E258}" type="sibTrans" cxnId="{F2251847-3029-4981-8A5E-EE0C0DC0A453}">
      <dgm:prSet/>
      <dgm:spPr/>
      <dgm:t>
        <a:bodyPr/>
        <a:lstStyle/>
        <a:p>
          <a:endParaRPr lang="en-US"/>
        </a:p>
      </dgm:t>
    </dgm:pt>
    <dgm:pt modelId="{CA093D8A-27EC-4870-979C-75BA55345603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Появляется два игрока(кубика) и два счётчика для каждого.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C747F80C-F46F-4898-BF88-D4A55BE3B605}" type="parTrans" cxnId="{524F8DA0-651D-438E-B11A-310D303C66C9}">
      <dgm:prSet/>
      <dgm:spPr/>
      <dgm:t>
        <a:bodyPr/>
        <a:lstStyle/>
        <a:p>
          <a:endParaRPr lang="en-US"/>
        </a:p>
      </dgm:t>
    </dgm:pt>
    <dgm:pt modelId="{DFE32845-C9C6-43FC-A11B-A9D21FA0287D}" type="sibTrans" cxnId="{524F8DA0-651D-438E-B11A-310D303C66C9}">
      <dgm:prSet/>
      <dgm:spPr/>
      <dgm:t>
        <a:bodyPr/>
        <a:lstStyle/>
        <a:p>
          <a:endParaRPr lang="en-US"/>
        </a:p>
      </dgm:t>
    </dgm:pt>
    <dgm:pt modelId="{1A3BDF49-2750-4616-8A38-B4C65701AF68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Если игрок коснулся до маленького квадратика, то счётчик прибавляет 1 балл.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79E826FC-20F6-4103-96C0-26633CE9C91E}" type="parTrans" cxnId="{65BBBD4E-7AFD-42EF-B6C2-0D695B455112}">
      <dgm:prSet/>
      <dgm:spPr/>
      <dgm:t>
        <a:bodyPr/>
        <a:lstStyle/>
        <a:p>
          <a:endParaRPr lang="en-US"/>
        </a:p>
      </dgm:t>
    </dgm:pt>
    <dgm:pt modelId="{43C3CFD0-8142-41BD-AD5A-E0BEDB17D119}" type="sibTrans" cxnId="{65BBBD4E-7AFD-42EF-B6C2-0D695B455112}">
      <dgm:prSet/>
      <dgm:spPr/>
      <dgm:t>
        <a:bodyPr/>
        <a:lstStyle/>
        <a:p>
          <a:endParaRPr lang="en-US"/>
        </a:p>
      </dgm:t>
    </dgm:pt>
    <dgm:pt modelId="{D92BF1B6-BE1C-4687-9126-4119B75E3E68}">
      <dgm:prSet/>
      <dgm:spPr/>
      <dgm:t>
        <a:bodyPr/>
        <a:lstStyle/>
        <a:p>
          <a:r>
            <a:rPr lang="ru-RU" dirty="0">
              <a:solidFill>
                <a:schemeClr val="accent1">
                  <a:lumMod val="75000"/>
                </a:schemeClr>
              </a:solidFill>
            </a:rPr>
            <a:t>По окончании таймера завершается игра и появляется соответствующая картинка победителя(Красный выиграл, Синий выиграл, Ничья).</a:t>
          </a:r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7FD30B58-0D45-4895-A7F6-0CA8FF39C7D8}" type="parTrans" cxnId="{E42A8E39-2699-4892-9D86-806D20078D62}">
      <dgm:prSet/>
      <dgm:spPr/>
      <dgm:t>
        <a:bodyPr/>
        <a:lstStyle/>
        <a:p>
          <a:endParaRPr lang="en-US"/>
        </a:p>
      </dgm:t>
    </dgm:pt>
    <dgm:pt modelId="{5015CA80-1D66-4BCA-A388-B61EC4DC1C57}" type="sibTrans" cxnId="{E42A8E39-2699-4892-9D86-806D20078D62}">
      <dgm:prSet/>
      <dgm:spPr/>
      <dgm:t>
        <a:bodyPr/>
        <a:lstStyle/>
        <a:p>
          <a:endParaRPr lang="en-US"/>
        </a:p>
      </dgm:t>
    </dgm:pt>
    <dgm:pt modelId="{A91A5E18-AAD2-467B-9D79-C03DB935EE6F}">
      <dgm:prSet/>
      <dgm:spPr/>
      <dgm:t>
        <a:bodyPr/>
        <a:lstStyle/>
        <a:p>
          <a:endParaRPr lang="en-US" dirty="0">
            <a:solidFill>
              <a:schemeClr val="accent1">
                <a:lumMod val="75000"/>
              </a:schemeClr>
            </a:solidFill>
          </a:endParaRPr>
        </a:p>
      </dgm:t>
    </dgm:pt>
    <dgm:pt modelId="{502C0C2D-2F07-4F04-A6D3-BD1F4509CCB8}" type="parTrans" cxnId="{555319FF-1AB7-4800-B3C7-4D9D565987BA}">
      <dgm:prSet/>
      <dgm:spPr/>
      <dgm:t>
        <a:bodyPr/>
        <a:lstStyle/>
        <a:p>
          <a:endParaRPr lang="ru-BY"/>
        </a:p>
      </dgm:t>
    </dgm:pt>
    <dgm:pt modelId="{C6EF0C7A-E602-4DA9-BB7F-B4D419207E03}" type="sibTrans" cxnId="{555319FF-1AB7-4800-B3C7-4D9D565987BA}">
      <dgm:prSet/>
      <dgm:spPr/>
      <dgm:t>
        <a:bodyPr/>
        <a:lstStyle/>
        <a:p>
          <a:endParaRPr lang="ru-BY"/>
        </a:p>
      </dgm:t>
    </dgm:pt>
    <dgm:pt modelId="{952FCE3E-62A1-477B-AE43-986B13D1ABCB}" type="pres">
      <dgm:prSet presAssocID="{2F3A498F-A129-465D-8168-27F5136543E5}" presName="linear" presStyleCnt="0">
        <dgm:presLayoutVars>
          <dgm:animLvl val="lvl"/>
          <dgm:resizeHandles val="exact"/>
        </dgm:presLayoutVars>
      </dgm:prSet>
      <dgm:spPr/>
    </dgm:pt>
    <dgm:pt modelId="{60905859-1C49-4F1B-92A0-45B45D459CB8}" type="pres">
      <dgm:prSet presAssocID="{1DC027B2-5347-4EAF-9218-E8E2288765CF}" presName="parentText" presStyleLbl="node1" presStyleIdx="0" presStyleCnt="1" custLinFactNeighborX="-270">
        <dgm:presLayoutVars>
          <dgm:chMax val="0"/>
          <dgm:bulletEnabled val="1"/>
        </dgm:presLayoutVars>
      </dgm:prSet>
      <dgm:spPr/>
    </dgm:pt>
    <dgm:pt modelId="{BDC7E2D4-ED10-41D3-9BD7-F6CB8C04D9D1}" type="pres">
      <dgm:prSet presAssocID="{1DC027B2-5347-4EAF-9218-E8E2288765C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2EBE920-701B-441B-8BD1-931321D458BB}" type="presOf" srcId="{D92BF1B6-BE1C-4687-9126-4119B75E3E68}" destId="{BDC7E2D4-ED10-41D3-9BD7-F6CB8C04D9D1}" srcOrd="0" destOrd="6" presId="urn:microsoft.com/office/officeart/2005/8/layout/vList2"/>
    <dgm:cxn modelId="{A32FBB24-1708-404A-A4E5-BC9AB8AE0A3B}" srcId="{1DC027B2-5347-4EAF-9218-E8E2288765CF}" destId="{1516F5DB-3903-4D11-8996-33081CA1CDE9}" srcOrd="2" destOrd="0" parTransId="{D15B5E41-41F6-40A2-A131-2C8297395646}" sibTransId="{D571D177-0412-403D-B486-C521849AB876}"/>
    <dgm:cxn modelId="{8A59672C-6C8A-4029-8D49-DA5BEA36DC64}" type="presOf" srcId="{1A3BDF49-2750-4616-8A38-B4C65701AF68}" destId="{BDC7E2D4-ED10-41D3-9BD7-F6CB8C04D9D1}" srcOrd="0" destOrd="5" presId="urn:microsoft.com/office/officeart/2005/8/layout/vList2"/>
    <dgm:cxn modelId="{E42A8E39-2699-4892-9D86-806D20078D62}" srcId="{1DC027B2-5347-4EAF-9218-E8E2288765CF}" destId="{D92BF1B6-BE1C-4687-9126-4119B75E3E68}" srcOrd="6" destOrd="0" parTransId="{7FD30B58-0D45-4895-A7F6-0CA8FF39C7D8}" sibTransId="{5015CA80-1D66-4BCA-A388-B61EC4DC1C57}"/>
    <dgm:cxn modelId="{F2251847-3029-4981-8A5E-EE0C0DC0A453}" srcId="{1DC027B2-5347-4EAF-9218-E8E2288765CF}" destId="{B88157DB-5DE1-45F1-AA99-58FFF6344816}" srcOrd="3" destOrd="0" parTransId="{82AED451-55C5-4143-A346-BAF8ED57A4F0}" sibTransId="{8929CF02-9461-43CE-837A-9F0F9D72E258}"/>
    <dgm:cxn modelId="{8C108B49-824B-4BB0-AB33-657C1D06B7AC}" type="presOf" srcId="{2F3A498F-A129-465D-8168-27F5136543E5}" destId="{952FCE3E-62A1-477B-AE43-986B13D1ABCB}" srcOrd="0" destOrd="0" presId="urn:microsoft.com/office/officeart/2005/8/layout/vList2"/>
    <dgm:cxn modelId="{65BBBD4E-7AFD-42EF-B6C2-0D695B455112}" srcId="{1DC027B2-5347-4EAF-9218-E8E2288765CF}" destId="{1A3BDF49-2750-4616-8A38-B4C65701AF68}" srcOrd="5" destOrd="0" parTransId="{79E826FC-20F6-4103-96C0-26633CE9C91E}" sibTransId="{43C3CFD0-8142-41BD-AD5A-E0BEDB17D119}"/>
    <dgm:cxn modelId="{BCDD2B80-BE3B-44E8-AE9A-EC0D2765ACBB}" type="presOf" srcId="{1DC027B2-5347-4EAF-9218-E8E2288765CF}" destId="{60905859-1C49-4F1B-92A0-45B45D459CB8}" srcOrd="0" destOrd="0" presId="urn:microsoft.com/office/officeart/2005/8/layout/vList2"/>
    <dgm:cxn modelId="{16C5FC81-CC67-46B1-B2E2-02DFE968A4F0}" srcId="{2F3A498F-A129-465D-8168-27F5136543E5}" destId="{1DC027B2-5347-4EAF-9218-E8E2288765CF}" srcOrd="0" destOrd="0" parTransId="{B228F7B4-A33E-445E-92CC-539829E828A4}" sibTransId="{931372A0-E6B4-444D-8894-F0CF348460B5}"/>
    <dgm:cxn modelId="{3135E891-C8D9-4F83-A5E4-171949680786}" type="presOf" srcId="{A91A5E18-AAD2-467B-9D79-C03DB935EE6F}" destId="{BDC7E2D4-ED10-41D3-9BD7-F6CB8C04D9D1}" srcOrd="0" destOrd="0" presId="urn:microsoft.com/office/officeart/2005/8/layout/vList2"/>
    <dgm:cxn modelId="{E8865696-13DE-4C4F-9EEC-D29C3BCF23EB}" type="presOf" srcId="{1516F5DB-3903-4D11-8996-33081CA1CDE9}" destId="{BDC7E2D4-ED10-41D3-9BD7-F6CB8C04D9D1}" srcOrd="0" destOrd="2" presId="urn:microsoft.com/office/officeart/2005/8/layout/vList2"/>
    <dgm:cxn modelId="{524F8DA0-651D-438E-B11A-310D303C66C9}" srcId="{1DC027B2-5347-4EAF-9218-E8E2288765CF}" destId="{CA093D8A-27EC-4870-979C-75BA55345603}" srcOrd="4" destOrd="0" parTransId="{C747F80C-F46F-4898-BF88-D4A55BE3B605}" sibTransId="{DFE32845-C9C6-43FC-A11B-A9D21FA0287D}"/>
    <dgm:cxn modelId="{2D3495A7-6805-47F5-80FC-F6A642D27482}" type="presOf" srcId="{8BE0D635-6D65-4454-98BB-21ABA57E16E8}" destId="{BDC7E2D4-ED10-41D3-9BD7-F6CB8C04D9D1}" srcOrd="0" destOrd="1" presId="urn:microsoft.com/office/officeart/2005/8/layout/vList2"/>
    <dgm:cxn modelId="{836C25B5-A237-4FC0-9A5F-0CC1CB47EE83}" srcId="{1DC027B2-5347-4EAF-9218-E8E2288765CF}" destId="{8BE0D635-6D65-4454-98BB-21ABA57E16E8}" srcOrd="1" destOrd="0" parTransId="{24045D1C-4D56-463D-8EBB-331FC3036804}" sibTransId="{8D40EA34-2C59-468C-8E81-E0FFC5A850FC}"/>
    <dgm:cxn modelId="{4CDABEC0-5D1F-492B-AF21-33602C69C6CF}" type="presOf" srcId="{B88157DB-5DE1-45F1-AA99-58FFF6344816}" destId="{BDC7E2D4-ED10-41D3-9BD7-F6CB8C04D9D1}" srcOrd="0" destOrd="3" presId="urn:microsoft.com/office/officeart/2005/8/layout/vList2"/>
    <dgm:cxn modelId="{154A0BFD-982A-4315-9A9E-3B30EFFD557B}" type="presOf" srcId="{CA093D8A-27EC-4870-979C-75BA55345603}" destId="{BDC7E2D4-ED10-41D3-9BD7-F6CB8C04D9D1}" srcOrd="0" destOrd="4" presId="urn:microsoft.com/office/officeart/2005/8/layout/vList2"/>
    <dgm:cxn modelId="{555319FF-1AB7-4800-B3C7-4D9D565987BA}" srcId="{1DC027B2-5347-4EAF-9218-E8E2288765CF}" destId="{A91A5E18-AAD2-467B-9D79-C03DB935EE6F}" srcOrd="0" destOrd="0" parTransId="{502C0C2D-2F07-4F04-A6D3-BD1F4509CCB8}" sibTransId="{C6EF0C7A-E602-4DA9-BB7F-B4D419207E03}"/>
    <dgm:cxn modelId="{BB84FF54-A064-4963-AF97-45E382066838}" type="presParOf" srcId="{952FCE3E-62A1-477B-AE43-986B13D1ABCB}" destId="{60905859-1C49-4F1B-92A0-45B45D459CB8}" srcOrd="0" destOrd="0" presId="urn:microsoft.com/office/officeart/2005/8/layout/vList2"/>
    <dgm:cxn modelId="{DFE0748B-C7B9-4F64-A633-29A66659A8A5}" type="presParOf" srcId="{952FCE3E-62A1-477B-AE43-986B13D1ABCB}" destId="{BDC7E2D4-ED10-41D3-9BD7-F6CB8C04D9D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87A43-8732-4764-B5C2-29F914D0C00F}">
      <dsp:nvSpPr>
        <dsp:cNvPr id="0" name=""/>
        <dsp:cNvSpPr/>
      </dsp:nvSpPr>
      <dsp:spPr>
        <a:xfrm>
          <a:off x="1049" y="576898"/>
          <a:ext cx="3683234" cy="23388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E6978-C9C3-47DF-9796-083CAD2DAE51}">
      <dsp:nvSpPr>
        <dsp:cNvPr id="0" name=""/>
        <dsp:cNvSpPr/>
      </dsp:nvSpPr>
      <dsp:spPr>
        <a:xfrm>
          <a:off x="410297" y="965684"/>
          <a:ext cx="3683234" cy="2338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>
              <a:solidFill>
                <a:schemeClr val="accent1">
                  <a:lumMod val="75000"/>
                </a:schemeClr>
              </a:solidFill>
            </a:rPr>
            <a:t>Проект разрабатывался на языке </a:t>
          </a:r>
          <a:r>
            <a:rPr lang="en-US" sz="1500" b="1" kern="1200" dirty="0">
              <a:solidFill>
                <a:schemeClr val="accent1">
                  <a:lumMod val="75000"/>
                </a:schemeClr>
              </a:solidFill>
            </a:rPr>
            <a:t>Python</a:t>
          </a:r>
          <a:r>
            <a:rPr lang="ru-RU" sz="1500" b="0" i="0" kern="1200" dirty="0">
              <a:solidFill>
                <a:schemeClr val="accent1">
                  <a:lumMod val="75000"/>
                </a:schemeClr>
              </a:solidFill>
            </a:rPr>
            <a:t>— это язык программирования, который широко используется в интернет-приложениях, разработке программного обеспечения, науке о данных и машинном обучении (ML). Разработчики используют Python, потому что он эффективен, прост в изучении и работает на разных платформах.</a:t>
          </a:r>
          <a:endParaRPr lang="en-US" sz="15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478800" y="1034187"/>
        <a:ext cx="3546228" cy="2201847"/>
      </dsp:txXfrm>
    </dsp:sp>
    <dsp:sp modelId="{147E5368-1D07-42DF-B89A-E592D982472D}">
      <dsp:nvSpPr>
        <dsp:cNvPr id="0" name=""/>
        <dsp:cNvSpPr/>
      </dsp:nvSpPr>
      <dsp:spPr>
        <a:xfrm>
          <a:off x="4502780" y="576898"/>
          <a:ext cx="3683234" cy="23388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DD3C3-7018-40EF-8AC5-919BBDD006D5}">
      <dsp:nvSpPr>
        <dsp:cNvPr id="0" name=""/>
        <dsp:cNvSpPr/>
      </dsp:nvSpPr>
      <dsp:spPr>
        <a:xfrm>
          <a:off x="4912028" y="965684"/>
          <a:ext cx="3683234" cy="23388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b="1" i="0" kern="1200" dirty="0" err="1">
              <a:solidFill>
                <a:schemeClr val="accent1">
                  <a:lumMod val="75000"/>
                </a:schemeClr>
              </a:solidFill>
            </a:rPr>
            <a:t>Pygame</a:t>
          </a:r>
          <a:r>
            <a:rPr lang="ru-RU" sz="1500" b="0" i="0" kern="1200" dirty="0">
              <a:solidFill>
                <a:schemeClr val="accent1">
                  <a:lumMod val="75000"/>
                </a:schemeClr>
              </a:solidFill>
            </a:rPr>
            <a:t> — это библиотека для создания игр на языке программирования Python. В библиотеке собран набор программных средств, помогающих разрабатывать двумерные игры.</a:t>
          </a:r>
          <a:endParaRPr lang="en-US" sz="15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4980531" y="1034187"/>
        <a:ext cx="3546228" cy="22018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05859-1C49-4F1B-92A0-45B45D459CB8}">
      <dsp:nvSpPr>
        <dsp:cNvPr id="0" name=""/>
        <dsp:cNvSpPr/>
      </dsp:nvSpPr>
      <dsp:spPr>
        <a:xfrm>
          <a:off x="0" y="72276"/>
          <a:ext cx="9601200" cy="888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Пользователь нажимает </a:t>
          </a:r>
          <a:r>
            <a:rPr lang="en-US" sz="2300" kern="1200"/>
            <a:t>«Start»</a:t>
          </a:r>
          <a:r>
            <a:rPr lang="ru-RU" sz="2300" kern="1200"/>
            <a:t>, после чего происходит следующее:</a:t>
          </a:r>
          <a:endParaRPr lang="en-US" sz="2300" kern="1200"/>
        </a:p>
      </dsp:txBody>
      <dsp:txXfrm>
        <a:off x="43350" y="115626"/>
        <a:ext cx="9514500" cy="801330"/>
      </dsp:txXfrm>
    </dsp:sp>
    <dsp:sp modelId="{BDC7E2D4-ED10-41D3-9BD7-F6CB8C04D9D1}">
      <dsp:nvSpPr>
        <dsp:cNvPr id="0" name=""/>
        <dsp:cNvSpPr/>
      </dsp:nvSpPr>
      <dsp:spPr>
        <a:xfrm>
          <a:off x="0" y="960306"/>
          <a:ext cx="9601200" cy="233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На экране показывается таймер в секундах, который отсчитывает до конца игры.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Кнопка </a:t>
          </a:r>
          <a:r>
            <a:rPr lang="en-US" sz="1800" kern="1200" dirty="0">
              <a:solidFill>
                <a:schemeClr val="accent1">
                  <a:lumMod val="75000"/>
                </a:schemeClr>
              </a:solidFill>
            </a:rPr>
            <a:t>«Back» </a:t>
          </a: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для возвращения в главное меню.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На экране появляются в разных местах маленькие квадратики.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Появляется два игрока(кубика) и два счётчика для каждого.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Если игрок коснулся до маленького квадратика, то счётчик прибавляет 1 балл.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800" kern="1200" dirty="0">
              <a:solidFill>
                <a:schemeClr val="accent1">
                  <a:lumMod val="75000"/>
                </a:schemeClr>
              </a:solidFill>
            </a:rPr>
            <a:t>По окончании таймера завершается игра и появляется соответствующая картинка победителя(Красный выиграл, Синий выиграл, Ничья).</a:t>
          </a:r>
          <a:endParaRPr lang="en-US" sz="1800" kern="1200" dirty="0">
            <a:solidFill>
              <a:schemeClr val="accent1">
                <a:lumMod val="75000"/>
              </a:schemeClr>
            </a:solidFill>
          </a:endParaRPr>
        </a:p>
      </dsp:txBody>
      <dsp:txXfrm>
        <a:off x="0" y="960306"/>
        <a:ext cx="9601200" cy="2332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71661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2088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5358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29533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7540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2737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0021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6227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2534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6793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9329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78580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276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31218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26094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295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46257-1AC4-4E49-B52D-396B4F82E9FB}" type="datetimeFigureOut">
              <a:rPr lang="ru-BY" smtClean="0"/>
              <a:t>14.01.2025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EF19CC7-F0D5-420A-9EAE-2155BDE4CB5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003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3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4" name="Isosceles Triangle 60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5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6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7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8" name="Isosceles Triangle 64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66" name="Isosceles Triangle 65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</p:grp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7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8ED1A-7886-49B0-0F6E-A5226DAABC49}"/>
              </a:ext>
            </a:extLst>
          </p:cNvPr>
          <p:cNvSpPr txBox="1"/>
          <p:nvPr/>
        </p:nvSpPr>
        <p:spPr>
          <a:xfrm>
            <a:off x="7237283" y="1785470"/>
            <a:ext cx="4512989" cy="2227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Проект</a:t>
            </a:r>
            <a:r>
              <a:rPr lang="en-US" sz="4000" dirty="0">
                <a:solidFill>
                  <a:schemeClr val="bg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 Eat to win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3A607-711D-93CA-AD43-FA977FEF58FE}"/>
              </a:ext>
            </a:extLst>
          </p:cNvPr>
          <p:cNvSpPr txBox="1"/>
          <p:nvPr/>
        </p:nvSpPr>
        <p:spPr>
          <a:xfrm>
            <a:off x="592849" y="5149414"/>
            <a:ext cx="39898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200" dirty="0">
                <a:cs typeface="Aharoni" panose="02010803020104030203" pitchFamily="2" charset="-79"/>
              </a:rPr>
              <a:t>Проект разрабатывали студенты БГТУ ФИТ </a:t>
            </a:r>
            <a:r>
              <a:rPr lang="ru-RU" sz="1200" dirty="0" err="1">
                <a:cs typeface="Aharoni" panose="02010803020104030203" pitchFamily="2" charset="-79"/>
              </a:rPr>
              <a:t>ИСиТ</a:t>
            </a:r>
            <a:r>
              <a:rPr lang="ru-RU" sz="1200" dirty="0">
                <a:cs typeface="Aharoni" panose="02010803020104030203" pitchFamily="2" charset="-79"/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200" dirty="0">
                <a:cs typeface="Aharoni" panose="02010803020104030203" pitchFamily="2" charset="-79"/>
              </a:rPr>
              <a:t>1 курса 1 группы 1 подгруппы</a:t>
            </a:r>
            <a:r>
              <a:rPr lang="en-US" sz="1200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endParaRPr lang="ru-RU" sz="1200" dirty="0">
              <a:cs typeface="Aharoni" panose="02010803020104030203" pitchFamily="2" charset="-79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ru-RU" sz="1200" dirty="0">
              <a:cs typeface="Aharoni" panose="02010803020104030203" pitchFamily="2" charset="-79"/>
            </a:endParaRPr>
          </a:p>
          <a:p>
            <a:pPr>
              <a:spcAft>
                <a:spcPts val="600"/>
              </a:spcAft>
            </a:pPr>
            <a:r>
              <a:rPr lang="ru-RU" sz="1200" dirty="0">
                <a:cs typeface="Aharoni" panose="02010803020104030203" pitchFamily="2" charset="-79"/>
              </a:rPr>
              <a:t>Наркевич Елена</a:t>
            </a:r>
          </a:p>
          <a:p>
            <a:pPr>
              <a:spcAft>
                <a:spcPts val="600"/>
              </a:spcAft>
            </a:pPr>
            <a:r>
              <a:rPr lang="ru-RU" sz="1200" dirty="0">
                <a:cs typeface="Aharoni" panose="02010803020104030203" pitchFamily="2" charset="-79"/>
              </a:rPr>
              <a:t>Машиновская Диана</a:t>
            </a:r>
            <a:endParaRPr lang="ru-BY" sz="1200" dirty="0"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34652-8818-C364-5E75-C936E93A6E47}"/>
              </a:ext>
            </a:extLst>
          </p:cNvPr>
          <p:cNvSpPr txBox="1"/>
          <p:nvPr/>
        </p:nvSpPr>
        <p:spPr>
          <a:xfrm>
            <a:off x="5269141" y="6304002"/>
            <a:ext cx="68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/>
              <a:t>2024</a:t>
            </a:r>
            <a:endParaRPr lang="ru-BY"/>
          </a:p>
        </p:txBody>
      </p:sp>
      <p:pic>
        <p:nvPicPr>
          <p:cNvPr id="20" name="Graphic 6" descr="Контур робота">
            <a:extLst>
              <a:ext uri="{FF2B5EF4-FFF2-40B4-BE49-F238E27FC236}">
                <a16:creationId xmlns:a16="http://schemas.microsoft.com/office/drawing/2014/main" id="{AE607D04-3FCB-2277-EF69-DD2E3B232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464" y="410135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1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38369844-B327-4D49-98E4-827203ADF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15249AA-E70E-4DAE-A265-2E3DE9D7C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D16B149-ADB4-41B1-A60E-1A0358879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23">
              <a:extLst>
                <a:ext uri="{FF2B5EF4-FFF2-40B4-BE49-F238E27FC236}">
                  <a16:creationId xmlns:a16="http://schemas.microsoft.com/office/drawing/2014/main" id="{B53998E5-48EB-4528-87CF-792F41468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96" name="Rectangle 25">
              <a:extLst>
                <a:ext uri="{FF2B5EF4-FFF2-40B4-BE49-F238E27FC236}">
                  <a16:creationId xmlns:a16="http://schemas.microsoft.com/office/drawing/2014/main" id="{870554EF-7AD0-4B55-9FFF-38E8FA108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2CB215DE-9630-439F-A0A9-1D96839C5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98" name="Rectangle 27">
              <a:extLst>
                <a:ext uri="{FF2B5EF4-FFF2-40B4-BE49-F238E27FC236}">
                  <a16:creationId xmlns:a16="http://schemas.microsoft.com/office/drawing/2014/main" id="{F73C83A3-9645-481D-A4C0-430939918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99" name="Rectangle 28">
              <a:extLst>
                <a:ext uri="{FF2B5EF4-FFF2-40B4-BE49-F238E27FC236}">
                  <a16:creationId xmlns:a16="http://schemas.microsoft.com/office/drawing/2014/main" id="{2FA98AB7-2E6E-4C28-BB73-33EA56364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0" name="Rectangle 29">
              <a:extLst>
                <a:ext uri="{FF2B5EF4-FFF2-40B4-BE49-F238E27FC236}">
                  <a16:creationId xmlns:a16="http://schemas.microsoft.com/office/drawing/2014/main" id="{C11A2791-813E-4B8A-BE6F-BF3F8979E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6DFFDA6E-1AB0-456D-9AFE-6CA686043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3E3E1654-1512-4D06-9969-80D50078F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</p:grp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Isosceles Triangle 105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75370A-D8FB-EBEE-6ADC-3B2436665CD1}"/>
              </a:ext>
            </a:extLst>
          </p:cNvPr>
          <p:cNvSpPr txBox="1"/>
          <p:nvPr/>
        </p:nvSpPr>
        <p:spPr>
          <a:xfrm>
            <a:off x="7534654" y="1892300"/>
            <a:ext cx="3425445" cy="307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</a:pPr>
            <a:r>
              <a:rPr lang="en-US" sz="2000">
                <a:solidFill>
                  <a:srgbClr val="FFFFFF"/>
                </a:solidFill>
              </a:rPr>
              <a:t>Д</a:t>
            </a:r>
            <a:r>
              <a:rPr lang="en-US" sz="2000">
                <a:solidFill>
                  <a:srgbClr val="FFFFFF"/>
                </a:solidFill>
                <a:effectLst/>
              </a:rPr>
              <a:t>анный проект рассматривает создание игры “</a:t>
            </a:r>
            <a:r>
              <a:rPr lang="en-US" sz="2000">
                <a:solidFill>
                  <a:srgbClr val="FFFFFF"/>
                </a:solidFill>
              </a:rPr>
              <a:t>Eat to win”</a:t>
            </a:r>
            <a:r>
              <a:rPr lang="en-US" sz="2000">
                <a:solidFill>
                  <a:srgbClr val="FFFFFF"/>
                </a:solidFill>
                <a:effectLst/>
              </a:rPr>
              <a:t>, она сделана в развлекательных целях!</a:t>
            </a:r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BY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D48E94-6E44-E13A-7C76-69EB9A4EB9F4}"/>
              </a:ext>
            </a:extLst>
          </p:cNvPr>
          <p:cNvSpPr txBox="1"/>
          <p:nvPr/>
        </p:nvSpPr>
        <p:spPr>
          <a:xfrm>
            <a:off x="829734" y="854529"/>
            <a:ext cx="5799665" cy="5148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60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Для чего этот проект?</a:t>
            </a:r>
            <a:endParaRPr lang="en-US" sz="6000" b="1" dirty="0">
              <a:solidFill>
                <a:schemeClr val="accent1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176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D8D5BC-FAE8-96A7-33E4-5B076FE4EC72}"/>
              </a:ext>
            </a:extLst>
          </p:cNvPr>
          <p:cNvSpPr txBox="1"/>
          <p:nvPr/>
        </p:nvSpPr>
        <p:spPr>
          <a:xfrm>
            <a:off x="577968" y="707365"/>
            <a:ext cx="62714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accent1">
                    <a:lumMod val="75000"/>
                  </a:schemeClr>
                </a:solidFill>
              </a:rPr>
              <a:t>В чём суть игры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?</a:t>
            </a:r>
            <a:endParaRPr lang="ru-BY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B7AD4-65B8-1C1D-E681-C20190D92F52}"/>
              </a:ext>
            </a:extLst>
          </p:cNvPr>
          <p:cNvSpPr txBox="1"/>
          <p:nvPr/>
        </p:nvSpPr>
        <p:spPr>
          <a:xfrm>
            <a:off x="4692770" y="1688667"/>
            <a:ext cx="5805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Суть игры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“Eat to win”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заключается в том, чтобы 2 игрока соревновались в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поедании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”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маленьких квадратиков, разбросанных по экрану.</a:t>
            </a:r>
            <a:endParaRPr lang="ru-BY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 descr="Изображение выглядит как Пурпурный цвет, розовый, снимок экрана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4D0F80C8-F475-61B9-0D82-A8373B2FE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526" y="3202207"/>
            <a:ext cx="4914474" cy="2984741"/>
          </a:xfrm>
          <a:prstGeom prst="rect">
            <a:avLst/>
          </a:prstGeom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 prst="artDeco"/>
          </a:sp3d>
        </p:spPr>
      </p:pic>
    </p:spTree>
    <p:extLst>
      <p:ext uri="{BB962C8B-B14F-4D97-AF65-F5344CB8AC3E}">
        <p14:creationId xmlns:p14="http://schemas.microsoft.com/office/powerpoint/2010/main" val="3271463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A31CB30-E0E7-4B2C-A3A3-816872C28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5AD4E29-B61A-40BE-97BC-68E77C1EB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C18DED4-B929-47C8-B57F-F3C890143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23">
              <a:extLst>
                <a:ext uri="{FF2B5EF4-FFF2-40B4-BE49-F238E27FC236}">
                  <a16:creationId xmlns:a16="http://schemas.microsoft.com/office/drawing/2014/main" id="{8214A095-576F-461F-A154-1FC4202D7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4" name="Rectangle 25">
              <a:extLst>
                <a:ext uri="{FF2B5EF4-FFF2-40B4-BE49-F238E27FC236}">
                  <a16:creationId xmlns:a16="http://schemas.microsoft.com/office/drawing/2014/main" id="{515F2694-7885-4B84-A9A1-A55707FE6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0542D629-79A6-44ED-AC25-F55A6E2A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6" name="Rectangle 27">
              <a:extLst>
                <a:ext uri="{FF2B5EF4-FFF2-40B4-BE49-F238E27FC236}">
                  <a16:creationId xmlns:a16="http://schemas.microsoft.com/office/drawing/2014/main" id="{B41D9E3C-5E56-476D-9AD3-BFB8B5631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7" name="Rectangle 28">
              <a:extLst>
                <a:ext uri="{FF2B5EF4-FFF2-40B4-BE49-F238E27FC236}">
                  <a16:creationId xmlns:a16="http://schemas.microsoft.com/office/drawing/2014/main" id="{8F87D754-D0AA-499C-81E1-80EC0595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8" name="Rectangle 29">
              <a:extLst>
                <a:ext uri="{FF2B5EF4-FFF2-40B4-BE49-F238E27FC236}">
                  <a16:creationId xmlns:a16="http://schemas.microsoft.com/office/drawing/2014/main" id="{970C55C7-6473-4215-A4E7-EAF80DCBC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CA11488B-749A-4380-B3CA-444593531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60" name="Isosceles Triangle 59">
              <a:extLst>
                <a:ext uri="{FF2B5EF4-FFF2-40B4-BE49-F238E27FC236}">
                  <a16:creationId xmlns:a16="http://schemas.microsoft.com/office/drawing/2014/main" id="{E11E930F-4EA6-4224-8AF2-950E50972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</p:grp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4B915-8B5C-0EE9-3BFB-4F605875751F}"/>
              </a:ext>
            </a:extLst>
          </p:cNvPr>
          <p:cNvSpPr txBox="1"/>
          <p:nvPr/>
        </p:nvSpPr>
        <p:spPr>
          <a:xfrm>
            <a:off x="1452444" y="557791"/>
            <a:ext cx="5201569" cy="1375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Какова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цель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разработки</a:t>
            </a:r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386F51-D9BE-3A6F-C7E8-951C68F24E29}"/>
              </a:ext>
            </a:extLst>
          </p:cNvPr>
          <p:cNvSpPr txBox="1"/>
          <p:nvPr/>
        </p:nvSpPr>
        <p:spPr>
          <a:xfrm>
            <a:off x="5690570" y="1810545"/>
            <a:ext cx="6383779" cy="3440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effectLst/>
              </a:rPr>
              <a:t>Цель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effectLst/>
              </a:rPr>
              <a:t>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разработать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оконное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приложение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с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главным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меню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и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кнопками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«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Start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» и «Exit»,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при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нажатии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на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первую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будет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запускаться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игра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при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нажатии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на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вторую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выход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из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игры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), в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которой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пользователя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будут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управлять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двумя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кубиками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,поедать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цели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и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иметь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свои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счётчики,таймер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до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окончания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игры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Также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при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запуске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появится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кнопка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«Back»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для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возврата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в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главное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меню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Сделать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удобный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и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простой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effectLst/>
              </a:rPr>
              <a:t>интерфейс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6" name="Рисунок 5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EBDC7C2F-1038-43A6-7C19-842A977F9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18" y="3048000"/>
            <a:ext cx="3695159" cy="2686211"/>
          </a:xfrm>
          <a:prstGeom prst="rect">
            <a:avLst/>
          </a:prstGeom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76595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9">
            <a:extLst>
              <a:ext uri="{FF2B5EF4-FFF2-40B4-BE49-F238E27FC236}">
                <a16:creationId xmlns:a16="http://schemas.microsoft.com/office/drawing/2014/main" id="{36D178FC-1907-4922-AA30-719402FAA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AF21C3-8DE4-4D87-A64D-77F6487C4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E3EF6D-1F38-4115-93BC-77BD2FB8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23">
              <a:extLst>
                <a:ext uri="{FF2B5EF4-FFF2-40B4-BE49-F238E27FC236}">
                  <a16:creationId xmlns:a16="http://schemas.microsoft.com/office/drawing/2014/main" id="{E31C83A5-88AF-48BE-BF18-BCD441B26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1A69C88A-5BA9-4172-98C1-120F3221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D58E1DE-DB6B-4772-A7B1-DF94F77FB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A73CFB7E-FE1B-4EBB-8A51-C929F2DC9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B4B826B7-E4AC-4476-96C5-576DABA6C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79460421-E5A9-435C-B0BC-78F6A3B5AD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D3A4D7F7-A7D4-40B0-A8BA-E4550E963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2B007C3-7AE4-431E-A807-3D51DE7DED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6F65FC8-E050-286B-802B-9DA9A1E77E75}"/>
              </a:ext>
            </a:extLst>
          </p:cNvPr>
          <p:cNvSpPr txBox="1"/>
          <p:nvPr/>
        </p:nvSpPr>
        <p:spPr>
          <a:xfrm>
            <a:off x="675547" y="783237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Python и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библиотека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 </a:t>
            </a:r>
            <a:r>
              <a:rPr lang="en-US" sz="4400" dirty="0" err="1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pygame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graphicFrame>
        <p:nvGraphicFramePr>
          <p:cNvPr id="58" name="TextBox 3">
            <a:extLst>
              <a:ext uri="{FF2B5EF4-FFF2-40B4-BE49-F238E27FC236}">
                <a16:creationId xmlns:a16="http://schemas.microsoft.com/office/drawing/2014/main" id="{34CCBE32-9641-3486-8ED6-009BF32AA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919679"/>
              </p:ext>
            </p:extLst>
          </p:nvPr>
        </p:nvGraphicFramePr>
        <p:xfrm>
          <a:off x="882559" y="1847461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1691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6B4D4-A9AD-750E-BAED-11482284B12E}"/>
              </a:ext>
            </a:extLst>
          </p:cNvPr>
          <p:cNvSpPr txBox="1"/>
          <p:nvPr/>
        </p:nvSpPr>
        <p:spPr>
          <a:xfrm>
            <a:off x="185469" y="163902"/>
            <a:ext cx="56848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accent1">
                    <a:lumMod val="75000"/>
                  </a:schemeClr>
                </a:solidFill>
                <a:cs typeface="Aharoni" panose="02010803020104030203" pitchFamily="2" charset="-79"/>
              </a:rPr>
              <a:t>Работа программы</a:t>
            </a:r>
            <a:endParaRPr lang="ru-BY" sz="4400" dirty="0">
              <a:solidFill>
                <a:schemeClr val="accent1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133DD23-DDA3-1809-B68A-20ABDDDC1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3744763"/>
              </p:ext>
            </p:extLst>
          </p:nvPr>
        </p:nvGraphicFramePr>
        <p:xfrm>
          <a:off x="1069676" y="872958"/>
          <a:ext cx="9601200" cy="3365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 descr="Изображение выглядит как графическая вставка, пиксель&#10;&#10;Автоматически созданное описание">
            <a:extLst>
              <a:ext uri="{FF2B5EF4-FFF2-40B4-BE49-F238E27FC236}">
                <a16:creationId xmlns:a16="http://schemas.microsoft.com/office/drawing/2014/main" id="{18CC83C7-720C-A125-B5A8-F601C5772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289" y="4230700"/>
            <a:ext cx="3317526" cy="2190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4925">
            <a:solidFill>
              <a:srgbClr val="FFFFFF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8100000" algn="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10" name="Рисунок 9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65F274FC-DEE0-EE3B-4A3B-EE217C3A0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34" y="4238432"/>
            <a:ext cx="3132913" cy="21826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4925">
            <a:solidFill>
              <a:srgbClr val="FFFFFF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  <p:pic>
        <p:nvPicPr>
          <p:cNvPr id="12" name="Рисунок 11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BFF70D15-7106-BD1F-D1CB-A60BC7F3AB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218" y="4221817"/>
            <a:ext cx="3035944" cy="21993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4925">
            <a:solidFill>
              <a:srgbClr val="FFFFFF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</p:spTree>
    <p:extLst>
      <p:ext uri="{BB962C8B-B14F-4D97-AF65-F5344CB8AC3E}">
        <p14:creationId xmlns:p14="http://schemas.microsoft.com/office/powerpoint/2010/main" val="1226357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09B7E24-271E-4A3A-9D65-EE95ED972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5C59434-03B2-4F06-8362-A01DD785E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DF3815-C9F7-4B9E-A371-DE71C4E9D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34C30A41-6D9F-42F2-BE4A-B6D2E4400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0" name="Rectangle 25">
              <a:extLst>
                <a:ext uri="{FF2B5EF4-FFF2-40B4-BE49-F238E27FC236}">
                  <a16:creationId xmlns:a16="http://schemas.microsoft.com/office/drawing/2014/main" id="{8577AE11-EC00-4E67-9DDD-624E9DA123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06A24DE-7A6F-4459-9A79-712243D20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BFEBE697-7D77-4AC8-8E68-0483B47DF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49FC7B15-C721-4A23-8F6A-2CFA77C61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4" name="Rectangle 29">
              <a:extLst>
                <a:ext uri="{FF2B5EF4-FFF2-40B4-BE49-F238E27FC236}">
                  <a16:creationId xmlns:a16="http://schemas.microsoft.com/office/drawing/2014/main" id="{164E8ACB-FC50-451D-AF0A-879ABC6EA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D5F354A0-F0C9-4254-A913-DD68E7816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9B01B525-8D81-44A3-BC1F-C711B89D23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BY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3CD750-BE91-8608-9A6C-AB0A9AEFCEBF}"/>
              </a:ext>
            </a:extLst>
          </p:cNvPr>
          <p:cNvSpPr txBox="1"/>
          <p:nvPr/>
        </p:nvSpPr>
        <p:spPr>
          <a:xfrm>
            <a:off x="985969" y="4553712"/>
            <a:ext cx="8288032" cy="10963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EE428088-31B6-3028-B7C8-24FF9EF46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259" y="934222"/>
            <a:ext cx="3299450" cy="32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93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спект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кстура гранж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320</Words>
  <Application>Microsoft Office PowerPoint</Application>
  <PresentationFormat>Широкоэкранный</PresentationFormat>
  <Paragraphs>25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Aharoni</vt:lpstr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nllucylln@gmail.com</dc:creator>
  <cp:lastModifiedBy>nllucylln@gmail.com</cp:lastModifiedBy>
  <cp:revision>9</cp:revision>
  <dcterms:created xsi:type="dcterms:W3CDTF">2025-01-13T21:10:51Z</dcterms:created>
  <dcterms:modified xsi:type="dcterms:W3CDTF">2025-01-13T22:30:00Z</dcterms:modified>
</cp:coreProperties>
</file>